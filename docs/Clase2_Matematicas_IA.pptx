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Probabilidad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P(Spam)</c:v>
                </c:pt>
                <c:pt idx="1">
                  <c:v>P("oferta"|Spam)</c:v>
                </c:pt>
                <c:pt idx="2">
                  <c:v>P("oferta"|No Spam)</c:v>
                </c:pt>
                <c:pt idx="3">
                  <c:v>P(Spam|"oferta")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</c:v>
                </c:pt>
                <c:pt idx="1">
                  <c:v>0.8</c:v>
                </c:pt>
                <c:pt idx="2">
                  <c:v>0.1</c:v>
                </c:pt>
                <c:pt idx="3">
                  <c:v>0.77400000000000002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A3-493A-A166-7C3CD6F1EB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s-MX" sz="1100" b="0" i="0" u="none" strike="noStrike">
                <a:solidFill>
                  <a:srgbClr val="1E293B"/>
                </a:solidFill>
                <a:latin typeface="Arial"/>
              </a:rPr>
              <a:t>Comparación de Varianza entre Datasets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Dataset A (σ = 5.2)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30-35</c:v>
                </c:pt>
                <c:pt idx="1">
                  <c:v>35-40</c:v>
                </c:pt>
                <c:pt idx="2">
                  <c:v>40-45</c:v>
                </c:pt>
                <c:pt idx="3">
                  <c:v>45-50</c:v>
                </c:pt>
                <c:pt idx="4">
                  <c:v>50-55</c:v>
                </c:pt>
                <c:pt idx="5">
                  <c:v>55-60</c:v>
                </c:pt>
                <c:pt idx="6">
                  <c:v>60-65</c:v>
                </c:pt>
                <c:pt idx="7">
                  <c:v>65-70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5</c:v>
                </c:pt>
                <c:pt idx="2">
                  <c:v>15</c:v>
                </c:pt>
                <c:pt idx="3">
                  <c:v>35</c:v>
                </c:pt>
                <c:pt idx="4">
                  <c:v>33</c:v>
                </c:pt>
                <c:pt idx="5">
                  <c:v>14</c:v>
                </c:pt>
                <c:pt idx="6">
                  <c:v>4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75-4E04-BD57-F42A6ACB6A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Dataset B (σ = 14.8)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30-35</c:v>
                </c:pt>
                <c:pt idx="1">
                  <c:v>35-40</c:v>
                </c:pt>
                <c:pt idx="2">
                  <c:v>40-45</c:v>
                </c:pt>
                <c:pt idx="3">
                  <c:v>45-50</c:v>
                </c:pt>
                <c:pt idx="4">
                  <c:v>50-55</c:v>
                </c:pt>
                <c:pt idx="5">
                  <c:v>55-60</c:v>
                </c:pt>
                <c:pt idx="6">
                  <c:v>60-65</c:v>
                </c:pt>
                <c:pt idx="7">
                  <c:v>65-70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</c:v>
                </c:pt>
                <c:pt idx="1">
                  <c:v>14</c:v>
                </c:pt>
                <c:pt idx="2">
                  <c:v>13</c:v>
                </c:pt>
                <c:pt idx="3">
                  <c:v>11</c:v>
                </c:pt>
                <c:pt idx="4">
                  <c:v>10</c:v>
                </c:pt>
                <c:pt idx="5">
                  <c:v>13</c:v>
                </c:pt>
                <c:pt idx="6">
                  <c:v>15</c:v>
                </c:pt>
                <c:pt idx="7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75-4E04-BD57-F42A6ACB6A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s-MX" sz="1000" b="0" i="0" u="none" strike="noStrike">
                <a:solidFill>
                  <a:srgbClr val="1E293B"/>
                </a:solidFill>
                <a:latin typeface="Arial"/>
              </a:rPr>
              <a:t>Efecto de μ y σ en la forma de la curva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μ=0, σ=1 (estándar)</c:v>
                </c:pt>
              </c:strCache>
            </c:strRef>
          </c:tx>
          <c:spPr>
            <a:ln w="3175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-5.0</c:v>
                </c:pt>
                <c:pt idx="1">
                  <c:v>-4.5</c:v>
                </c:pt>
                <c:pt idx="2">
                  <c:v>-4.0</c:v>
                </c:pt>
                <c:pt idx="3">
                  <c:v>-3.5</c:v>
                </c:pt>
                <c:pt idx="4">
                  <c:v>-3.0</c:v>
                </c:pt>
                <c:pt idx="5">
                  <c:v>-2.5</c:v>
                </c:pt>
                <c:pt idx="6">
                  <c:v>-2.0</c:v>
                </c:pt>
                <c:pt idx="7">
                  <c:v>-1.5</c:v>
                </c:pt>
                <c:pt idx="8">
                  <c:v>-1.0</c:v>
                </c:pt>
                <c:pt idx="9">
                  <c:v>-0.5</c:v>
                </c:pt>
                <c:pt idx="10">
                  <c:v>0.0</c:v>
                </c:pt>
                <c:pt idx="11">
                  <c:v>0.5</c:v>
                </c:pt>
                <c:pt idx="12">
                  <c:v>1.0</c:v>
                </c:pt>
                <c:pt idx="13">
                  <c:v>1.5</c:v>
                </c:pt>
                <c:pt idx="14">
                  <c:v>2.0</c:v>
                </c:pt>
                <c:pt idx="15">
                  <c:v>2.5</c:v>
                </c:pt>
                <c:pt idx="16">
                  <c:v>3.0</c:v>
                </c:pt>
                <c:pt idx="17">
                  <c:v>3.5</c:v>
                </c:pt>
                <c:pt idx="18">
                  <c:v>4.0</c:v>
                </c:pt>
                <c:pt idx="19">
                  <c:v>4.5</c:v>
                </c:pt>
                <c:pt idx="20">
                  <c:v>5.0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1E-3</c:v>
                </c:pt>
                <c:pt idx="4">
                  <c:v>4.0000000000000001E-3</c:v>
                </c:pt>
                <c:pt idx="5">
                  <c:v>1.7999999999999999E-2</c:v>
                </c:pt>
                <c:pt idx="6">
                  <c:v>5.3999999999999999E-2</c:v>
                </c:pt>
                <c:pt idx="7">
                  <c:v>0.13</c:v>
                </c:pt>
                <c:pt idx="8">
                  <c:v>0.24199999999999999</c:v>
                </c:pt>
                <c:pt idx="9">
                  <c:v>0.35199999999999998</c:v>
                </c:pt>
                <c:pt idx="10">
                  <c:v>0.39900000000000002</c:v>
                </c:pt>
                <c:pt idx="11">
                  <c:v>0.35199999999999998</c:v>
                </c:pt>
                <c:pt idx="12">
                  <c:v>0.24199999999999999</c:v>
                </c:pt>
                <c:pt idx="13">
                  <c:v>0.13</c:v>
                </c:pt>
                <c:pt idx="14">
                  <c:v>5.3999999999999999E-2</c:v>
                </c:pt>
                <c:pt idx="15">
                  <c:v>1.7999999999999999E-2</c:v>
                </c:pt>
                <c:pt idx="16">
                  <c:v>4.0000000000000001E-3</c:v>
                </c:pt>
                <c:pt idx="17">
                  <c:v>1E-3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BE6-4020-8004-655C728E41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μ=0, σ=2 (ancha)</c:v>
                </c:pt>
              </c:strCache>
            </c:strRef>
          </c:tx>
          <c:spPr>
            <a:ln w="31750" cap="flat">
              <a:solidFill>
                <a:srgbClr val="F9731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-5.0</c:v>
                </c:pt>
                <c:pt idx="1">
                  <c:v>-4.5</c:v>
                </c:pt>
                <c:pt idx="2">
                  <c:v>-4.0</c:v>
                </c:pt>
                <c:pt idx="3">
                  <c:v>-3.5</c:v>
                </c:pt>
                <c:pt idx="4">
                  <c:v>-3.0</c:v>
                </c:pt>
                <c:pt idx="5">
                  <c:v>-2.5</c:v>
                </c:pt>
                <c:pt idx="6">
                  <c:v>-2.0</c:v>
                </c:pt>
                <c:pt idx="7">
                  <c:v>-1.5</c:v>
                </c:pt>
                <c:pt idx="8">
                  <c:v>-1.0</c:v>
                </c:pt>
                <c:pt idx="9">
                  <c:v>-0.5</c:v>
                </c:pt>
                <c:pt idx="10">
                  <c:v>0.0</c:v>
                </c:pt>
                <c:pt idx="11">
                  <c:v>0.5</c:v>
                </c:pt>
                <c:pt idx="12">
                  <c:v>1.0</c:v>
                </c:pt>
                <c:pt idx="13">
                  <c:v>1.5</c:v>
                </c:pt>
                <c:pt idx="14">
                  <c:v>2.0</c:v>
                </c:pt>
                <c:pt idx="15">
                  <c:v>2.5</c:v>
                </c:pt>
                <c:pt idx="16">
                  <c:v>3.0</c:v>
                </c:pt>
                <c:pt idx="17">
                  <c:v>3.5</c:v>
                </c:pt>
                <c:pt idx="18">
                  <c:v>4.0</c:v>
                </c:pt>
                <c:pt idx="19">
                  <c:v>4.5</c:v>
                </c:pt>
                <c:pt idx="20">
                  <c:v>5.0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8.9999999999999993E-3</c:v>
                </c:pt>
                <c:pt idx="1">
                  <c:v>1.6E-2</c:v>
                </c:pt>
                <c:pt idx="2">
                  <c:v>2.7E-2</c:v>
                </c:pt>
                <c:pt idx="3">
                  <c:v>4.2999999999999997E-2</c:v>
                </c:pt>
                <c:pt idx="4">
                  <c:v>6.5000000000000002E-2</c:v>
                </c:pt>
                <c:pt idx="5">
                  <c:v>9.0999999999999998E-2</c:v>
                </c:pt>
                <c:pt idx="6">
                  <c:v>0.121</c:v>
                </c:pt>
                <c:pt idx="7">
                  <c:v>0.151</c:v>
                </c:pt>
                <c:pt idx="8">
                  <c:v>0.17599999999999999</c:v>
                </c:pt>
                <c:pt idx="9">
                  <c:v>0.193</c:v>
                </c:pt>
                <c:pt idx="10">
                  <c:v>0.19900000000000001</c:v>
                </c:pt>
                <c:pt idx="11">
                  <c:v>0.193</c:v>
                </c:pt>
                <c:pt idx="12">
                  <c:v>0.17599999999999999</c:v>
                </c:pt>
                <c:pt idx="13">
                  <c:v>0.151</c:v>
                </c:pt>
                <c:pt idx="14">
                  <c:v>0.121</c:v>
                </c:pt>
                <c:pt idx="15">
                  <c:v>9.0999999999999998E-2</c:v>
                </c:pt>
                <c:pt idx="16">
                  <c:v>6.5000000000000002E-2</c:v>
                </c:pt>
                <c:pt idx="17">
                  <c:v>4.2999999999999997E-2</c:v>
                </c:pt>
                <c:pt idx="18">
                  <c:v>2.7E-2</c:v>
                </c:pt>
                <c:pt idx="19">
                  <c:v>1.6E-2</c:v>
                </c:pt>
                <c:pt idx="20">
                  <c:v>8.9999999999999993E-3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BE6-4020-8004-655C728E419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μ=1.5, σ=0.8 (desplazada)</c:v>
                </c:pt>
              </c:strCache>
            </c:strRef>
          </c:tx>
          <c:spPr>
            <a:ln w="31750" cap="flat">
              <a:solidFill>
                <a:srgbClr val="8B5C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-5.0</c:v>
                </c:pt>
                <c:pt idx="1">
                  <c:v>-4.5</c:v>
                </c:pt>
                <c:pt idx="2">
                  <c:v>-4.0</c:v>
                </c:pt>
                <c:pt idx="3">
                  <c:v>-3.5</c:v>
                </c:pt>
                <c:pt idx="4">
                  <c:v>-3.0</c:v>
                </c:pt>
                <c:pt idx="5">
                  <c:v>-2.5</c:v>
                </c:pt>
                <c:pt idx="6">
                  <c:v>-2.0</c:v>
                </c:pt>
                <c:pt idx="7">
                  <c:v>-1.5</c:v>
                </c:pt>
                <c:pt idx="8">
                  <c:v>-1.0</c:v>
                </c:pt>
                <c:pt idx="9">
                  <c:v>-0.5</c:v>
                </c:pt>
                <c:pt idx="10">
                  <c:v>0.0</c:v>
                </c:pt>
                <c:pt idx="11">
                  <c:v>0.5</c:v>
                </c:pt>
                <c:pt idx="12">
                  <c:v>1.0</c:v>
                </c:pt>
                <c:pt idx="13">
                  <c:v>1.5</c:v>
                </c:pt>
                <c:pt idx="14">
                  <c:v>2.0</c:v>
                </c:pt>
                <c:pt idx="15">
                  <c:v>2.5</c:v>
                </c:pt>
                <c:pt idx="16">
                  <c:v>3.0</c:v>
                </c:pt>
                <c:pt idx="17">
                  <c:v>3.5</c:v>
                </c:pt>
                <c:pt idx="18">
                  <c:v>4.0</c:v>
                </c:pt>
                <c:pt idx="19">
                  <c:v>4.5</c:v>
                </c:pt>
                <c:pt idx="20">
                  <c:v>5.0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4.0000000000000001E-3</c:v>
                </c:pt>
                <c:pt idx="9">
                  <c:v>2.1999999999999999E-2</c:v>
                </c:pt>
                <c:pt idx="10">
                  <c:v>8.5999999999999993E-2</c:v>
                </c:pt>
                <c:pt idx="11">
                  <c:v>0.22800000000000001</c:v>
                </c:pt>
                <c:pt idx="12">
                  <c:v>0.41</c:v>
                </c:pt>
                <c:pt idx="13">
                  <c:v>0.499</c:v>
                </c:pt>
                <c:pt idx="14">
                  <c:v>0.41</c:v>
                </c:pt>
                <c:pt idx="15">
                  <c:v>0.22800000000000001</c:v>
                </c:pt>
                <c:pt idx="16">
                  <c:v>8.5999999999999993E-2</c:v>
                </c:pt>
                <c:pt idx="17">
                  <c:v>2.1999999999999999E-2</c:v>
                </c:pt>
                <c:pt idx="18">
                  <c:v>4.0000000000000001E-3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3BE6-4020-8004-655C728E41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s-CO" sz="1000" b="0" i="0" u="none" strike="noStrike">
                <a:solidFill>
                  <a:srgbClr val="1E293B"/>
                </a:solidFill>
                <a:latin typeface="Arial"/>
              </a:rPr>
              <a:t>Binomial(n=20) con diferentes probabilidades 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p=0.3 (asimétrica izq.)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Sheet1!$A$2:$A$22</c:f>
              <c:strCach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8.0000000000000004E-4</c:v>
                </c:pt>
                <c:pt idx="1">
                  <c:v>6.7999999999999996E-3</c:v>
                </c:pt>
                <c:pt idx="2">
                  <c:v>2.7799999999999998E-2</c:v>
                </c:pt>
                <c:pt idx="3">
                  <c:v>7.1599999999999997E-2</c:v>
                </c:pt>
                <c:pt idx="4">
                  <c:v>0.13039999999999999</c:v>
                </c:pt>
                <c:pt idx="5">
                  <c:v>0.1789</c:v>
                </c:pt>
                <c:pt idx="6">
                  <c:v>0.19159999999999999</c:v>
                </c:pt>
                <c:pt idx="7">
                  <c:v>0.1643</c:v>
                </c:pt>
                <c:pt idx="8">
                  <c:v>0.1144</c:v>
                </c:pt>
                <c:pt idx="9">
                  <c:v>6.54E-2</c:v>
                </c:pt>
                <c:pt idx="10">
                  <c:v>3.0800000000000001E-2</c:v>
                </c:pt>
                <c:pt idx="11">
                  <c:v>1.2E-2</c:v>
                </c:pt>
                <c:pt idx="12">
                  <c:v>3.8999999999999998E-3</c:v>
                </c:pt>
                <c:pt idx="13">
                  <c:v>1E-3</c:v>
                </c:pt>
                <c:pt idx="14">
                  <c:v>2.0000000000000001E-4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68-498A-994D-4C8A10D1F2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p=0.5 (simétrica)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cat>
            <c:strRef>
              <c:f>Sheet1!$A$2:$A$22</c:f>
              <c:strCach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2.0000000000000001E-4</c:v>
                </c:pt>
                <c:pt idx="3">
                  <c:v>1.1000000000000001E-3</c:v>
                </c:pt>
                <c:pt idx="4">
                  <c:v>4.5999999999999999E-3</c:v>
                </c:pt>
                <c:pt idx="5">
                  <c:v>1.4800000000000001E-2</c:v>
                </c:pt>
                <c:pt idx="6">
                  <c:v>3.6999999999999998E-2</c:v>
                </c:pt>
                <c:pt idx="7">
                  <c:v>7.3899999999999993E-2</c:v>
                </c:pt>
                <c:pt idx="8">
                  <c:v>0.1201</c:v>
                </c:pt>
                <c:pt idx="9">
                  <c:v>0.16020000000000001</c:v>
                </c:pt>
                <c:pt idx="10">
                  <c:v>0.1762</c:v>
                </c:pt>
                <c:pt idx="11">
                  <c:v>0.16020000000000001</c:v>
                </c:pt>
                <c:pt idx="12">
                  <c:v>0.1201</c:v>
                </c:pt>
                <c:pt idx="13">
                  <c:v>7.3899999999999993E-2</c:v>
                </c:pt>
                <c:pt idx="14">
                  <c:v>3.6999999999999998E-2</c:v>
                </c:pt>
                <c:pt idx="15">
                  <c:v>1.4800000000000001E-2</c:v>
                </c:pt>
                <c:pt idx="16">
                  <c:v>4.5999999999999999E-3</c:v>
                </c:pt>
                <c:pt idx="17">
                  <c:v>1.1000000000000001E-3</c:v>
                </c:pt>
                <c:pt idx="18">
                  <c:v>2.0000000000000001E-4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68-498A-994D-4C8A10D1F2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p=0.7 (asimétrica der.)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cat>
            <c:strRef>
              <c:f>Sheet1!$A$2:$A$22</c:f>
              <c:strCach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2.0000000000000001E-4</c:v>
                </c:pt>
                <c:pt idx="7">
                  <c:v>1E-3</c:v>
                </c:pt>
                <c:pt idx="8">
                  <c:v>3.8999999999999998E-3</c:v>
                </c:pt>
                <c:pt idx="9">
                  <c:v>1.2E-2</c:v>
                </c:pt>
                <c:pt idx="10">
                  <c:v>3.0800000000000001E-2</c:v>
                </c:pt>
                <c:pt idx="11">
                  <c:v>6.54E-2</c:v>
                </c:pt>
                <c:pt idx="12">
                  <c:v>0.1144</c:v>
                </c:pt>
                <c:pt idx="13">
                  <c:v>0.1643</c:v>
                </c:pt>
                <c:pt idx="14">
                  <c:v>0.19159999999999999</c:v>
                </c:pt>
                <c:pt idx="15">
                  <c:v>0.1789</c:v>
                </c:pt>
                <c:pt idx="16">
                  <c:v>0.13039999999999999</c:v>
                </c:pt>
                <c:pt idx="17">
                  <c:v>7.1599999999999997E-2</c:v>
                </c:pt>
                <c:pt idx="18">
                  <c:v>2.7799999999999998E-2</c:v>
                </c:pt>
                <c:pt idx="19">
                  <c:v>6.7999999999999996E-3</c:v>
                </c:pt>
                <c:pt idx="20">
                  <c:v>8.0000000000000004E-4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268-498A-994D-4C8A10D1F2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s-CO" sz="1000" b="0" i="0" u="none" strike="noStrike">
                <a:solidFill>
                  <a:srgbClr val="1E293B"/>
                </a:solidFill>
                <a:latin typeface="Arial"/>
              </a:rPr>
              <a:t>Poisson con diferentes valores de </a:t>
            </a:r>
            <a:r>
              <a:rPr lang="el-GR" sz="1000" b="0" i="0" u="none" strike="noStrike">
                <a:solidFill>
                  <a:srgbClr val="1E293B"/>
                </a:solidFill>
                <a:latin typeface="Arial"/>
              </a:rPr>
              <a:t>λ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λ = 2 (pocos eventos)</c:v>
                </c:pt>
              </c:strCache>
            </c:strRef>
          </c:tx>
          <c:spPr>
            <a:ln w="3175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0.1353</c:v>
                </c:pt>
                <c:pt idx="1">
                  <c:v>0.2707</c:v>
                </c:pt>
                <c:pt idx="2">
                  <c:v>0.2707</c:v>
                </c:pt>
                <c:pt idx="3">
                  <c:v>0.1804</c:v>
                </c:pt>
                <c:pt idx="4">
                  <c:v>9.0200000000000002E-2</c:v>
                </c:pt>
                <c:pt idx="5">
                  <c:v>3.61E-2</c:v>
                </c:pt>
                <c:pt idx="6">
                  <c:v>1.2E-2</c:v>
                </c:pt>
                <c:pt idx="7">
                  <c:v>3.3999999999999998E-3</c:v>
                </c:pt>
                <c:pt idx="8">
                  <c:v>8.9999999999999998E-4</c:v>
                </c:pt>
                <c:pt idx="9">
                  <c:v>2.0000000000000001E-4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1F5-459C-98DA-1EEC6FF258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λ = 5 (moderado)</c:v>
                </c:pt>
              </c:strCache>
            </c:strRef>
          </c:tx>
          <c:spPr>
            <a:ln w="3175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6.7000000000000002E-3</c:v>
                </c:pt>
                <c:pt idx="1">
                  <c:v>3.3700000000000001E-2</c:v>
                </c:pt>
                <c:pt idx="2">
                  <c:v>8.4199999999999997E-2</c:v>
                </c:pt>
                <c:pt idx="3">
                  <c:v>0.1404</c:v>
                </c:pt>
                <c:pt idx="4">
                  <c:v>0.17549999999999999</c:v>
                </c:pt>
                <c:pt idx="5">
                  <c:v>0.17549999999999999</c:v>
                </c:pt>
                <c:pt idx="6">
                  <c:v>0.1462</c:v>
                </c:pt>
                <c:pt idx="7">
                  <c:v>0.10440000000000001</c:v>
                </c:pt>
                <c:pt idx="8">
                  <c:v>6.5299999999999997E-2</c:v>
                </c:pt>
                <c:pt idx="9">
                  <c:v>3.6299999999999999E-2</c:v>
                </c:pt>
                <c:pt idx="10">
                  <c:v>1.8100000000000002E-2</c:v>
                </c:pt>
                <c:pt idx="11">
                  <c:v>8.2000000000000007E-3</c:v>
                </c:pt>
                <c:pt idx="12">
                  <c:v>3.3999999999999998E-3</c:v>
                </c:pt>
                <c:pt idx="13">
                  <c:v>1.2999999999999999E-3</c:v>
                </c:pt>
                <c:pt idx="14">
                  <c:v>5.0000000000000001E-4</c:v>
                </c:pt>
                <c:pt idx="15">
                  <c:v>2.0000000000000001E-4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1F5-459C-98DA-1EEC6FF2588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λ = 10 (muchos eventos)</c:v>
                </c:pt>
              </c:strCache>
            </c:strRef>
          </c:tx>
          <c:spPr>
            <a:ln w="31750" cap="flat">
              <a:solidFill>
                <a:srgbClr val="8B5C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0</c:v>
                </c:pt>
                <c:pt idx="1">
                  <c:v>5.0000000000000001E-4</c:v>
                </c:pt>
                <c:pt idx="2">
                  <c:v>2.3E-3</c:v>
                </c:pt>
                <c:pt idx="3">
                  <c:v>7.6E-3</c:v>
                </c:pt>
                <c:pt idx="4">
                  <c:v>1.89E-2</c:v>
                </c:pt>
                <c:pt idx="5">
                  <c:v>3.78E-2</c:v>
                </c:pt>
                <c:pt idx="6">
                  <c:v>6.3100000000000003E-2</c:v>
                </c:pt>
                <c:pt idx="7">
                  <c:v>9.01E-2</c:v>
                </c:pt>
                <c:pt idx="8">
                  <c:v>0.11260000000000001</c:v>
                </c:pt>
                <c:pt idx="9">
                  <c:v>0.12509999999999999</c:v>
                </c:pt>
                <c:pt idx="10">
                  <c:v>0.12509999999999999</c:v>
                </c:pt>
                <c:pt idx="11">
                  <c:v>0.1137</c:v>
                </c:pt>
                <c:pt idx="12">
                  <c:v>9.4799999999999995E-2</c:v>
                </c:pt>
                <c:pt idx="13">
                  <c:v>7.2900000000000006E-2</c:v>
                </c:pt>
                <c:pt idx="14">
                  <c:v>5.21E-2</c:v>
                </c:pt>
                <c:pt idx="15">
                  <c:v>3.4700000000000002E-2</c:v>
                </c:pt>
                <c:pt idx="16">
                  <c:v>2.1700000000000001E-2</c:v>
                </c:pt>
                <c:pt idx="17">
                  <c:v>1.2800000000000001E-2</c:v>
                </c:pt>
                <c:pt idx="18">
                  <c:v>7.1000000000000004E-3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F1F5-459C-98DA-1EEC6FF258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7759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Matemáticas Esenciales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IA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731520" y="3383280"/>
            <a:ext cx="109728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Lineal  •  Cálculo  •  Probabilidad  •  Estadística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Artificial: De los Fundamentos a la Implementación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81" y="656082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de la Clase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640080" y="192024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8483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19933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55448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Teoría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7472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lineal, cálculo, probabilidad y distribuciones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27889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5351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8620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5544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Práctica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347472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visualización y descenso de gradiente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  •  Matemáticas Esenciales para IA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Matemáticas en IA?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matemáticas son el lenguaje en el que la IA piensa y aprende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2560320" cy="3108960"/>
          </a:xfrm>
          <a:prstGeom prst="rect">
            <a:avLst/>
          </a:prstGeom>
          <a:solidFill>
            <a:srgbClr val="0077B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463040" y="1783080"/>
            <a:ext cx="914400" cy="91440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9659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Álgebra Lineal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2918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datos, transformaciones y operaciones en espacios de alta dimensión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0" y="1508760"/>
            <a:ext cx="2560320" cy="31089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4297680" y="1783080"/>
            <a:ext cx="914400" cy="91440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96596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Cálculo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703320" y="32918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modelos encontrando mínimos y máximos de funciones de error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09360" y="1508760"/>
            <a:ext cx="2560320" cy="310896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2"/>
          <p:cNvSpPr/>
          <p:nvPr/>
        </p:nvSpPr>
        <p:spPr>
          <a:xfrm>
            <a:off x="7132320" y="1783080"/>
            <a:ext cx="914400" cy="91440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96596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Probabilidad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537960" y="32918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Manejar incertidumbre, hacer predicciones y evaluar modelos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146304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LINEAL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Vectores y Espacios Vectoriales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Conceptos Fundamentales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vector es una lista ordenada de números (magnitud + dirección)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Representan puntos de datos en un espacio n-dimensional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Operaciones: suma, resta, producto punto, producto cruz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Norma: mide la "longitud" del vector (distancia al origen)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ML son vectores en espacios de alta dimensión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3657600" cy="1463040"/>
          </a:xfrm>
          <a:prstGeom prst="rect">
            <a:avLst/>
          </a:prstGeom>
          <a:solidFill>
            <a:srgbClr val="0F1B2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12064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Notación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828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[v₁, v₂, ..., vₙ]  ∈  ℝⁿ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‖v‖ = √(v₁² + v₂² + ... + vₙ²)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· v = Σ uᵢvᵢ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306324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846320" y="3063240"/>
            <a:ext cx="73152" cy="1645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12064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en 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3520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descrito por [edad, ingreso, compras] = [32, 45000, 12] es un vector en ℝ³. Cada cliente es un punto en este espacio.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  •  Matemáticas Esenciales para IA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146304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LINEAL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Matrices y Operaciones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931920" cy="1828800"/>
          </a:xfrm>
          <a:prstGeom prst="rect">
            <a:avLst/>
          </a:prstGeom>
          <a:solidFill>
            <a:srgbClr val="0F1B2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Definición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matriz es un arreglo rectangular de números con m filas y n columnas (m × n). Representan transformaciones lineales y datasets completos.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12064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Operaciones Clave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y resta (elemento a elemento)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Multiplicación (filas × columnas)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Transpuesta (Aᵀ: filas ↔ columnas)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Inversa (A⁻¹: "deshacer" transformación)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2560320" cy="1371600"/>
          </a:xfrm>
          <a:prstGeom prst="rect">
            <a:avLst/>
          </a:prstGeom>
          <a:solidFill>
            <a:srgbClr val="0077B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ML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dataset de 1000 clientes × 10 features es una matriz de 1000×10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74720" y="3474720"/>
            <a:ext cx="2560320" cy="13716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65760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Deep Learning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pesos de una red neuronal se almacenan y operan como matrices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3474720"/>
            <a:ext cx="2560320" cy="1371600"/>
          </a:xfrm>
          <a:prstGeom prst="rect">
            <a:avLst/>
          </a:prstGeom>
          <a:solidFill>
            <a:srgbClr val="0F1B2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49224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NLP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representaciones de palabras (embeddings) son matrices de vocabulario × dimensión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  •  Matemáticas Esenciales para IA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1005840" cy="29260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Derivadas y Gradientes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73152" cy="33832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Derivada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8745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la tasa de cambio instantánea de una función. Nos dice "qué tan rápido" y "en qué dirección" cambia el valor.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2697480"/>
            <a:ext cx="3291840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188720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f'(x) = lim  Δf / Δx  =  df/dx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3383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IA: la derivada de la función de pérdida indica cómo ajustar los parámetros del modelo para mejorar predicciones.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365760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846320" y="1371600"/>
            <a:ext cx="73152" cy="33832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21208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12080" y="1874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vector de derivadas parciales. Apunta en la dirección de mayor crecimiento de la función.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212080" y="2697480"/>
            <a:ext cx="3108960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303520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∇f = [∂f/∂x₁, ∂f/∂x₂, ..., ∂f/∂xₙ]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3383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brújula de la optimización: nos dice hacia dónde movernos para minimizar el error del modelo.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  •  Matemáticas Esenciales para IA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Descenso de Gradiente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fundamental de optimización en Machine Learning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0120" y="141732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6012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Inicializar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Comenzar con parámetros aleatorios θ₀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57400" y="1709928"/>
            <a:ext cx="914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651760" y="141732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65176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48840" y="2148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Calcular Pérdida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4884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la función de costo L(θ)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1709928"/>
            <a:ext cx="914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343400" y="141732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34340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40480" y="2148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Calcular Gradiente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∇L(θ) = dirección del error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40680" y="1709928"/>
            <a:ext cx="914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6035040" y="141732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0350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2148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Actualizar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θ - α · ∇L(θ)  (α = learning rate)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32320" y="1709928"/>
            <a:ext cx="914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7726680" y="141732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772668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23760" y="2148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Repetir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2376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convergencia o criterio de parada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371600" y="3429000"/>
            <a:ext cx="6400800" cy="12801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1645920" y="35204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 de Actualización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645920" y="38404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θₙₑw = θₒₗd - α · ∇L(θ)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645920" y="4251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(learning rate) controla el tamaño del paso. Muy grande → diverge. Muy pequeño → lento.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1554480" cy="2926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Probabilidad y Estadística Básica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Conceptos de Probabilidad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Probabilidad condicional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P(A|B) — probabilidad de A dado que B ocurrió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Teorema de Bayes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P(A|B) = P(B|A)·P(A) / P(B) — actualizar creencias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246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Independencia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P(A∩B) = P(A)·P(B) cuando no se afectan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886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Valor esperado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4114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E[X] = Σ xᵢ·P(xᵢ) — el promedio ponderado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371600"/>
            <a:ext cx="365760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12064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Estadística Descriptiva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1965960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 (μ)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20640" y="2176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central de los datos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249631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Varianza (σ²)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20640" y="27066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dispersos están los datos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302666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Desv. estándar (σ)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20640" y="32369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 en las mismas unidades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3557016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Covarianza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120640" y="3767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varían dos variables juntas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4087368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Correlación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120640" y="4297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Covarianza normalizada [-1, 1]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  •  Matemáticas Esenciales para IA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1554480" cy="2926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Teorema de Bayes en Acción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7863840" cy="822960"/>
          </a:xfrm>
          <a:prstGeom prst="rect">
            <a:avLst/>
          </a:prstGeom>
          <a:solidFill>
            <a:srgbClr val="0F1B2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P(Spam | palabra) = P(palabra | Spam) · P(Spam)  /  P(palabra)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Ejemplo: Clasificador de Spam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73152" cy="2011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005840" y="28803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Dato: 30% de emails son spam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palabra "oferta" aparece en: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80% de los emails spam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10% de los emails legítimos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P(Spam|"oferta") = 77.4%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5029200" y="2468880"/>
          <a:ext cx="36576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/>
          <p:nvPr/>
        </p:nvSpPr>
        <p:spPr>
          <a:xfrm>
            <a:off x="64008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  •  Matemáticas Esenciales para IA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1554480" cy="2926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Media, Varianza y Desviación Estándar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28016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280160"/>
            <a:ext cx="29260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5760720" y="1280160"/>
            <a:ext cx="73152" cy="13258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603504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3504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50, σ = 5.2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varianza: los datos se concentran cerca de la media. Predicciones más confiables.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60720" y="2788920"/>
            <a:ext cx="29260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5760720" y="2788920"/>
            <a:ext cx="73152" cy="13258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603504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B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35040" y="3154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50, σ = 14.8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varianza: los datos están dispersos. Mayor incertidumbre en las predicciones.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914400" y="4343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ML, la varianza alta indica mayor incertidumbre. Modelos con alta varianza tienden al overfitting.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1828800" cy="29260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Distribución Normal (Gaussiana)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23444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234440"/>
            <a:ext cx="2926080" cy="1143000"/>
          </a:xfrm>
          <a:prstGeom prst="rect">
            <a:avLst/>
          </a:prstGeom>
          <a:solidFill>
            <a:srgbClr val="0F1B2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5943600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Fórmula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(1/σ√2π) · e^(-(x-μ)²/2σ²)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controla el centro, σ controla el ancho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2560320"/>
            <a:ext cx="29260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5760720" y="2560320"/>
            <a:ext cx="73152" cy="1920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6035040" y="2651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 68-95-99.7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80760" y="3063240"/>
            <a:ext cx="822960" cy="3200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6080760" y="30632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040880" y="3063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datos dentro de μ ± 1σ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80760" y="3474720"/>
            <a:ext cx="822960" cy="3200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6080760" y="34747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040880" y="3474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datos dentro de μ ± 2σ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80760" y="3886200"/>
            <a:ext cx="822960" cy="3200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/>
          <p:nvPr/>
        </p:nvSpPr>
        <p:spPr>
          <a:xfrm>
            <a:off x="6080760" y="38862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99.7%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040880" y="3886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datos dentro de μ ± 3σ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  •  Matemáticas Esenciales para IA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1828800" cy="29260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Distribución Binomial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23444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234440"/>
            <a:ext cx="2926080" cy="1143000"/>
          </a:xfrm>
          <a:prstGeom prst="rect">
            <a:avLst/>
          </a:prstGeom>
          <a:solidFill>
            <a:srgbClr val="0F1B2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5943600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Fórmula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P(k) = C(n,k) · pᵏ · (1-p)ⁿ⁻ᵏ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94360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ensayos, k = éxitos, p = prob. éxito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2560320"/>
            <a:ext cx="29260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5760720" y="2560320"/>
            <a:ext cx="73152" cy="192024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6035040" y="2651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Aplicaciones en IA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35040" y="30175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binaria (spam/no spam)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rate en publicidad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A/B (tasas de conversión)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en manufactura (control de calidad)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  •  Matemáticas Esenciales para IA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1828800" cy="29260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Distribución de Poisson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23444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234440"/>
            <a:ext cx="2926080" cy="1143000"/>
          </a:xfrm>
          <a:prstGeom prst="rect">
            <a:avLst/>
          </a:prstGeom>
          <a:solidFill>
            <a:srgbClr val="0F1B2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5943600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Fórmula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P(k) = (λᵏ · e⁻λ) / k!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tasa promedio de eventos por intervalo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2560320"/>
            <a:ext cx="29260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5760720" y="2560320"/>
            <a:ext cx="73152" cy="19202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6035040" y="2651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Aplicaciones en IA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35040" y="30175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demanda (ventas/hora)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anomalías (eventos inusuales)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 web (visitas por minuto)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colas y atención al cliente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  •  Matemáticas Esenciales para IA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Comparativa: ¿Cuándo usar cada distribución?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606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Distribución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Tipo de dato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Ejemplo en IA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Parámetros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Continuo, simétrico, con forma de campana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Errores de predicción, distribución de pesos en redes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E0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μ (media)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E0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 (desv. est.)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Binomial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Conteo de éxitos en n ensayos (sí/no)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 binaria, click-through rate, test A/B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E0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(ensayos)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E0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 (prob. éxito)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Conteo de eventos raros en un intervalo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Predicción de demanda, detección de anomalías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E0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λ (tasa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E0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promedio)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2336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3931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 Clave para ML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371600" y="42519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la distribución correcta es fundamental para diseñar modelos efectivos. Un modelo que asume normalidad en datos binomiales dará predicciones incorrectas. Siempre analizar la naturaleza de los datos primero.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1188720" cy="2926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 para Operaciones Matriciales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4846320" cy="338328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NumPy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Vectores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 = np.array([1, 2, 3])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= np.array([4, 5, 6])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 = np.dot(v1, v2)  # → 32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Matrices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np.array([[1, 2], [3, 4]])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np.array([[5, 6], [7, 8]])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A @ B  # Multiplicación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Operaciones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A_T = A.T           # Transpuesta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 = np.linalg.det(A)  # Determinante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 = np.linalg.inv(A)  # Inversa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60720" y="1371600"/>
            <a:ext cx="2743200" cy="33832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94360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0" y="196596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vectores y calcular producto punto y norma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Multiplicar matrices y verificar propiedades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sistema de ecuaciones Ax = b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eigenvalores y eigenvectores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transformaciones lineales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1188720" cy="2926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Visualización de Distribuciones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4846320" cy="338328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Matplotlib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 import stats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Normal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np.linspace(-4, 4, 1000)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plt.plot(x, stats.norm.pdf(x, 0, 1))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plt.title("Distribución Normal")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Binomial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 p = 20, 0.5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np.arange(0, 21)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plt.bar(k, stats.binom.pmf(k, n, p))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Poisson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 = 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np.arange(0, 15)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plt.bar(k, stats.poisson.pmf(k, lam))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60720" y="1371600"/>
            <a:ext cx="2743200" cy="33832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94360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0" y="196596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campana de la distribución normal (μ y σ)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cambia la binomial al variar n y p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de Poisson con diferentes λ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distribuciones superpuestas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del tamaño de muestra en la aproximación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1188720" cy="2926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Implementar Descenso de Gradiente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4846320" cy="338328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Descenso de Gradiente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gradient_descent(f, df, x0,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lr=0.01, epochs=100):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x0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history = [x]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range(epochs):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grad = df(x)       # Calcular gradiente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x - lr * grad  # Actualizar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history.append(x)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x, history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 minimizar f(x) = x² + 2x + 1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 = lambda x: x**2 + 2*x + 1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lambda x: 2*x + 2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x_min, hist = gradient_descent(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f, df, x0=5.0, lr=0.1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print(f"Mínimo en x = {x_min:.4f}")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60720" y="1371600"/>
            <a:ext cx="2743200" cy="33832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94360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0" y="196596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Variar learning rate: 0.001, 0.01, 0.1, 1.0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convergencia vs divergencia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Graficar la trayectoria sobre la función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con funciones más complejas (2D)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el efecto del punto inicial x₀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1835</Words>
  <Application>Microsoft Office PowerPoint</Application>
  <PresentationFormat>Presentación en pantalla (16:9)</PresentationFormat>
  <Paragraphs>284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2: Matemáticas Esenciales para IA</dc:title>
  <dc:subject>PptxGenJS Presentation</dc:subject>
  <dc:creator>Curso IA</dc:creator>
  <cp:lastModifiedBy>DAVID PULGARIN VELASQUEZ</cp:lastModifiedBy>
  <cp:revision>2</cp:revision>
  <dcterms:created xsi:type="dcterms:W3CDTF">2026-02-11T14:13:45Z</dcterms:created>
  <dcterms:modified xsi:type="dcterms:W3CDTF">2026-02-11T14:20:01Z</dcterms:modified>
</cp:coreProperties>
</file>